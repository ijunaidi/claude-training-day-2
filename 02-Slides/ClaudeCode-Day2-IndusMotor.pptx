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"Hands up if you have used Claude Code since yesterday." Count. "Yesterday the repo got smart. Today the spec writes the app."</a:t>
            </a:r>
          </a:p>
          <a:p/>
          <a:p>
            <a:r>
              <a:t>SAY: "By five o'clock each of you will have built a full .NET app from a document, reviewed it with an agent that never saw it being written, changed it with a second document, had Claude review your pull request in GitHub, and given Claude a browser to check your app with MCP."</a:t>
            </a:r>
          </a:p>
          <a:p/>
          <a:p>
            <a:r>
              <a:t>DO: slide stays up while people sit down. Printed Quiz Form A is face down on every seat.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"Morning is the spec and the build. Afternoon is everything that happens after the first build: review, change, CI, and MCP."</a:t>
            </a:r>
          </a:p>
          <a:p/>
          <a:p>
            <a:r>
              <a:t>SAY: "The build runs for about an hour on your machine. We don't watch it. We use that hour to learn how to write the next spec."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"Nothing today is a new feature of the tool. It is yesterday's habits pointed at a bigger job."</a:t>
            </a:r>
          </a:p>
          <a:p/>
          <a:p>
            <a:r>
              <a:t>SAY: "Yesterday's last MCP slide promised you would connect one. That is Lab 6, and you connect two. Yesterday's headless slide promised a CI review. That is Lab 5."</a:t>
            </a:r>
          </a:p>
          <a:p/>
          <a:p>
            <a:r>
              <a:t>CUT: read the six violet labels only.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"Yesterday we launched in Manual mode all day so you saw every action. Today one session builds for an hour; you will approve a plan once and review in git, milestone by milestone."</a:t>
            </a:r>
          </a:p>
          <a:p/>
          <a:p>
            <a:r>
              <a:t>SAY: "The fallback branch exists so nobody spends the afternoon watching a spinner. Using it is not failing."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"Paper or phone, your choice. It measures the room, not you. Ten minutes."</a:t>
            </a:r>
          </a:p>
          <a:p/>
          <a:p>
            <a:r>
              <a:t>DO: collect at 10:13. A co-trainer scores Form A with 01-Instructor/03-Answer-Keys.md while Block 2 runs and writes the room average on the board.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"Both of these can produce an app. Only one of them produces the same app twice, survives the author going on leave, and can be argued with before code exists."</a:t>
            </a:r>
          </a:p>
          <a:p/>
          <a:p>
            <a:r>
              <a:t>SAY: "The prompt at the bottom is the one you type in Lab 1. It is eight words. All the engineering is already done, in a file."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"Imagine someone walks you through procurement, payroll, inventory and tax for four hours with no notes. By hour three you are not stupid. You are full."</a:t>
            </a:r>
          </a:p>
          <a:p/>
          <a:p>
            <a:r>
              <a:t>SAY: "Models fail the same four ways. Blending, staleness, dropout, and the worst one: it doesn't feel wrong from the inside."</a:t>
            </a:r>
          </a:p>
          <a:p/>
          <a:p>
            <a:r>
              <a:t>SAY: "Yesterday's fixes still apply: /context to see it, /clear between tasks, subagents for noisy reading. Today adds the big one: put durable facts in a file."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"Nobody's version drifted because their session went long, and nobody's is better because they explained it more patiently."</a:t>
            </a:r>
          </a:p>
          <a:p/>
          <a:p>
            <a:r>
              <a:t>SAY: "That is also why a spec can be reviewed: it exists before the code, as a diff someone can comment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"Neither one is better. The mistake is staying in exploration mode for work that three other people will have to live with."</a:t>
            </a:r>
          </a:p>
          <a:p/>
          <a:p>
            <a:r>
              <a:t>ASK: "Which of your current tickets is in the wrong column?"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"Four stages, four gates. The agent does most of the typing; a human owns every gate."</a:t>
            </a:r>
          </a:p>
          <a:p/>
          <a:p>
            <a:r>
              <a:t>SAY: "The arrow from Verify back to Specify is the one teams skip. When the review finds something the spec never said, the fix is a sentence in the spec, not just a patch in the code."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slide keeps the rest of the day honest. Spec-driven is not a religion."</a:t>
            </a:r>
          </a:p>
          <a:p/>
          <a:p>
            <a:r>
              <a:t>SAY: "Number four matters most in a company like ours: if nobody can answer the interview questions, the spec would just be a confident guess, and the agent will build the guess perfectly."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open SPEC.md on the projector next to this slide. Scroll to §2.</a:t>
            </a:r>
          </a:p>
          <a:p/>
          <a:p>
            <a:r>
              <a:t>SAY: "The longest sections are the data model and the screens. The most important one is twenty lines: the non-goals. Every item there is something a capable agent would add by default."</a:t>
            </a:r>
          </a:p>
          <a:p/>
          <a:p>
            <a:r>
              <a:t>SAY: "'If something is not described in this document, do not build it.' That one sentence removes a whole category of review findings."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"Read the grey lines. Every one of them has been in a requirements document you have received this year."</a:t>
            </a:r>
          </a:p>
          <a:p/>
          <a:p>
            <a:r>
              <a:t>ASK: "What would two different developers build for 'handle errors gracefully'?" Take two answers. "Now two agents. Same problem, faster."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"M0 and M1 finish before a single component exists. So a bug found later is either in the repository or in the UI, never ambiguously both."</a:t>
            </a:r>
          </a:p>
          <a:p/>
          <a:p>
            <a:r>
              <a:t>SAY: "At 12:15 Claude walks the §9 list and shows evidence for each item, and you check one by hand. 'The agent said it's done' is not on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"An agent that stops to ask you twenty questions during an unattended build is useless. An agent that silently guesses is dangerous. §10 asks for the third option: guess the simplest thing, and say so in one line."</a:t>
            </a:r>
          </a:p>
          <a:p/>
          <a:p>
            <a:r>
              <a:t>SAY: "The right-hand side is illustrative. Your assumptions will differ. Write yours down during Lab 1; we use them at 12:15."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"Yesterday you watched every action in Manual mode. That doesn't scale to an 80-minute build. So we move the review to two places: the plan before, and git after each milestone."</a:t>
            </a:r>
          </a:p>
          <a:p/>
          <a:p>
            <a:r>
              <a:t>SAY: "The deny on SPEC.md is the most important line. An agent under pressure to pass a check will happily move the check. If it wants to change the contract, that is a human pull request."</a:t>
            </a:r>
          </a:p>
          <a:p/>
          <a:p>
            <a:r>
              <a:t>DO: show the real file: 05-Lab-Repo/AssetDesk-Lab/.claude/settings.json. If it differs from the slide, the file wins.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"Read before you run. Five minutes on §1, §2, §8, §9, §10. You are about to approve a plan, and you can only argue with a plan if you know the contract."</a:t>
            </a:r>
          </a:p>
          <a:p/>
          <a:p>
            <a:r>
              <a:t>SAY: "Push back once on purpose, even if the plan is good. Ask it to confirm the two-package rule, or to commit after each milestone. Watch the plan change."</a:t>
            </a:r>
          </a:p>
          <a:p/>
          <a:p>
            <a:r>
              <a:t>CHECK at 11:18: "Hands up if M0 is running." Anyone not: pair them, or have them switch to reference-build and join Lab 2.</a:t>
            </a:r>
          </a:p>
          <a:p/>
          <a:p>
            <a:r>
              <a:t>CUT: drop the reading to §2 and §8 only.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"These are the spec's own estimates. Yours will run faster or slower. What repeats is the order."</a:t>
            </a:r>
          </a:p>
          <a:p/>
          <a:p>
            <a:r>
              <a:t>SAY: "Glance at T1 between slides. One line per milestone. If it goes quiet for more than ten minutes, or starts working on UI before M1 is done, raise a hand."</a:t>
            </a:r>
          </a:p>
          <a:p/>
          <a:p>
            <a:r>
              <a:t>DO: keep the reference-build branch ready on the podium in case the room's network is slow.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interview prompt is straight out of Anthropic's Claude Code best-practices guide. Claude asks with multiple-choice options, you pick or type your own."</a:t>
            </a:r>
          </a:p>
          <a:p/>
          <a:p>
            <a:r>
              <a:t>SAY: "Answer the way the business would: 'IT wants to know who had this laptop before it broke'. Let Claude translate that into a table and an endpoint. Then check the translation."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the real gap in today's spec. When we ran this build repeatedly, about half the review findings traced back to that one missing sentence. One skill decides it; you'll see it in Lab 3's stretch."</a:t>
            </a:r>
          </a:p>
          <a:p/>
          <a:p>
            <a:r>
              <a:t>SAY: "Why a subagent? You wrote the spec, so you read what you meant, not what you wrote. The subagent only has what you wrote."</a:t>
            </a:r>
          </a:p>
          <a:p/>
          <a:p>
            <a:r>
              <a:t>NOTE: the right-hand output is illustrative; the first line is the real, observed gap.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"Yesterday's Block 8 table, extended by one column. The spec is the new column."</a:t>
            </a:r>
          </a:p>
          <a:p/>
          <a:p>
            <a:r>
              <a:t>SAY: "The last row is the one that matters for review: a rule you only ever said out loud is invisible to every audit, human or agent."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"Today's SPEC.md says 'No tests'. The feature needs tests. So the feature spec amends §2, for this feature only, in writing. That is how a contract changes: visibly."</a:t>
            </a:r>
          </a:p>
          <a:p/>
          <a:p>
            <a:r>
              <a:t>DO: the template is lab/templates/feature-spec.md in the repo. Open it for ten seconds.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"Two Claude sessions, one folder. That's safe here because this session only writes one markdown file, and the build never touches specs/."</a:t>
            </a:r>
          </a:p>
          <a:p/>
          <a:p>
            <a:r>
              <a:t>SAY: "Don't commit from T3. The build commits after each milestone and may pick the file up; that's fine, it belongs on your build branch anyway. If it's still untracked at 12:15, commit it then."</a:t>
            </a:r>
          </a:p>
          <a:p/>
          <a:p>
            <a:r>
              <a:t>SAY: "Answer at least one question with 'Other' and your own words. The interview is only as good as your answers."</a:t>
            </a:r>
          </a:p>
          <a:p/>
          <a:p>
            <a:r>
              <a:t>SAY: "The last two steps are an independent review of a document: a subagent that never saw your conversation reads only what you wrote."</a:t>
            </a:r>
          </a:p>
          <a:p/>
          <a:p>
            <a:r>
              <a:t>CHECK at 12:10: "Hands up if you have a spec file." Collect the most common 'still open' item and read it out.</a:t>
            </a:r>
          </a:p>
          <a:p/>
          <a:p>
            <a:r>
              <a:t>NOTE: attendees on Pro plans may hit usage limits running two sessions. If so, pause T3 and finish the spec by hand from the template.</a:t>
            </a:r>
          </a:p>
          <a:p/>
          <a:p>
            <a:r>
              <a:t>CUT: skip the ambiguity hunt; do it at the start of Lab 4 instead.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"Anthropic's own best-practice advice for Claude Code: give it a way to check its work. Without that, 'done' just means the agent stopped."</a:t>
            </a:r>
          </a:p>
          <a:p/>
          <a:p>
            <a:r>
              <a:t>SAY: "The ladder goes from weakest to strongest. A build proves it compiles. Tests and the API prove behaviour. The screen proves what the user sees, and this afternoon Claude gets a browser for that."</a:t>
            </a:r>
          </a:p>
          <a:p/>
          <a:p>
            <a:r>
              <a:t>SAY: "Claude runs the checks and shows the output. You read the evidence, and you do one check yourself, because trusting evidence you never looked at is the same as trusting 'done'."</a:t>
            </a:r>
          </a:p>
          <a:p/>
          <a:p>
            <a:r>
              <a:t>SAY: "A repair row has no Assign button, so force the error with two tabs: open Assign on AST-1003 in one, Mark repair in the other, then confirm the assignment. The banner must say 'AST-1003 is in repair and cannot be assigned.' If it is empty, you have found the most common defect in generated Blazor code. Hold that thought until 13:30."</a:t>
            </a:r>
          </a:p>
          <a:p/>
          <a:p>
            <a:r>
              <a:t>DO: anyone whose build is not at M6 by 12:25 commits, then runs git switch -c build/&lt;name&gt;-ref origin/reference-build before lunch. Never let the room commit to the shared reference-build branch itself.</a:t>
            </a:r>
          </a:p>
          <a:p/>
          <a:p>
            <a:r>
              <a:t>DO: if specs/asset-history.md is still untracked, commit it now.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"If your build is still running, let it. Lock your screen, don't close the terminal."</a:t>
            </a:r>
          </a:p>
          <a:p/>
          <a:p>
            <a:r>
              <a:t>DO: during lunch, walk the room. Anyone without a working build: help them switch to reference-build so Lab 3 works for them.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"Yesterday: a subagent inherits nothing from your conversation. That was a limitation in Block 6. Here it is the whole point."</a:t>
            </a:r>
          </a:p>
          <a:p/>
          <a:p>
            <a:r>
              <a:t>SAY: "The skill is short and it says why: if the same context reviews its own code, it reviews its own reasoning, and the counts stop being comparable."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open .claude/agents/assetdesk-reviewer.md on the projector. It is 40 lines. Point at "Report only what you can point at with a file and a line."</a:t>
            </a:r>
          </a:p>
          <a:p/>
          <a:p>
            <a:r>
              <a:t>SAY: "Rule 3 is the one humans break most. Flagging something the spec forbids means you are reviewing the spec, not the build."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"We ran this build many times with one variable: which skills were in .claude/. Numbers are the typical shape from those dry runs. A live build is not deterministic; what repeats is which bucket moves."</a:t>
            </a:r>
          </a:p>
          <a:p/>
          <a:p>
            <a:r>
              <a:t>SAY: "The twist is the lesson. An audit that finds nothing has told you about its rulebook, not about your code."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an independent review. /review-build hands the job to a subagent with read-only tools and no memory of the build."</a:t>
            </a:r>
          </a:p>
          <a:p/>
          <a:p>
            <a:r>
              <a:t>SAY: "Read both skills before you copy them. Each rule shows the wrong code next to the right code. That's why they work on a model and on a new hire."</a:t>
            </a:r>
          </a:p>
          <a:p/>
          <a:p>
            <a:r>
              <a:t>SAY: "/clear is not enough after adding a skill. Skills register at startup. /exit, then claude."</a:t>
            </a:r>
          </a:p>
          <a:p/>
          <a:p>
            <a:r>
              <a:t>CHECK at 14:05: ask three people to read their two TOTAL lines aloud. Write them on the board.</a:t>
            </a:r>
          </a:p>
          <a:p/>
          <a:p>
            <a:r>
              <a:t>STRETCH: fix the findings and review a third time; or copy lab/skills/api-boundary too.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"AssetDesk was a green field so the lesson was clean. Your Monday is not. Everything you learned still applies, but at the size of a ticket."</a:t>
            </a:r>
          </a:p>
          <a:p/>
          <a:p>
            <a:r>
              <a:t>SAY: "Rule of thumb from teams that do this: if the delta spec runs past three pages, it's two changes. Split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first spec of a legacy system describes what it does, including its bugs. Humans then decide which behaviours are rules and which are accidents. Only then does it become a contract."</a:t>
            </a:r>
          </a:p>
          <a:p/>
          <a:p>
            <a:r>
              <a:t>SAY: "'Cite file:line' and 'mark INFERRED' are what make it reviewable. Without them it is a confident essay."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"Two pull requests per feature. The first one is a document, and the right reviewers are different people: a BA or product owner for 'is this what we want?', a tech lead for 'is it buildable?'."</a:t>
            </a:r>
          </a:p>
          <a:p/>
          <a:p>
            <a:r>
              <a:t>SAY: "The second PR is reviewed against the first. That's the job CI does in Block 7, and a human confirms."</a:t>
            </a:r>
          </a:p>
          <a:p/>
          <a:p>
            <a:r>
              <a:t>ASK: "Who in your team would review the spec PR?" If nobody: that's the gap to close first.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"Every row here is something we hit while preparing today. The fixes are cheap if you decide them on day one and expensive if you discover them in month three."</a:t>
            </a:r>
          </a:p>
          <a:p/>
          <a:p>
            <a:r>
              <a:t>SAY: "Spec drift is the one to watch. A spec that is wrong is worse than no spec, because the next agent will obey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"Tests first is the other half of 'give Claude a way to check its work'. The tests exist before the code, so Claude can't write tests that merely agree with what it built."</a:t>
            </a:r>
          </a:p>
          <a:p/>
          <a:p>
            <a:r>
              <a:t>SAY: "Because SPEC.md fixed the repository's method names, a test written against the spec compiles against your build. The contract made the tests portable."</a:t>
            </a:r>
          </a:p>
          <a:p/>
          <a:p>
            <a:r>
              <a:t>SAY: "Ask for the failing-tests commit explicitly. If Claude writes code and tests together, you have lost the proof that the tests can fail."</a:t>
            </a:r>
          </a:p>
          <a:p/>
          <a:p>
            <a:r>
              <a:t>CHECK at 14:55: "Hands up if dotnet test is green." Stuck: 01-Instructor/Lab-Solutions/lab4/NOTES.md.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fix broken laptops now, never in front of the room. Check everyone has pushed a feature branch; Lab 5 needs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"Nothing new under the hood. It's Claude Code with -p, inside a GitHub runner, started by an Action Anthropic maintains."</a:t>
            </a:r>
          </a:p>
          <a:p/>
          <a:p>
            <a:r>
              <a:t>SAY: "Notice the last box. The review is a check on the PR. It never approves and never merges."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open the real file, .github/workflows/claude-review.yml in the lab repo. If it differs from the slide, the file wins.</a:t>
            </a:r>
          </a:p>
          <a:p/>
          <a:p>
            <a:r>
              <a:t>SAY: "Day 1's rule: a tool list is enforcement. --allowedTools is that rule in CI. The reviewer can read the PR and comment on it. It can't push, can't merge, can't run your build."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"Same five rules as the reviewer this afternoon: a line, a clause, no taste. The only difference is where it runs."</a:t>
            </a:r>
          </a:p>
          <a:p/>
          <a:p>
            <a:r>
              <a:t>SAY: "The comment on the right is illustrative. The clause citation is what makes it arguable: you can reply 'AC-4 doesn't say that' and the discussion is about the contract, not opinions."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"For a team repo, prefer an API key from a dedicated Console workspace with a spend limit. You can see exactly what CI costs and cap it."</a:t>
            </a:r>
          </a:p>
          <a:p/>
          <a:p>
            <a:r>
              <a:t>SAY: "The managed Code Review is a separate product for Team and Enterprise: it runs on Anthropic's infrastructure and is billed separately. The Action runs on your runners with your key. Today we use the Action because you can read every line of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"Yesterday's MCP rule two, again: output is data, not orders. In CI the 'output' is the whole pull request."</a:t>
            </a:r>
          </a:p>
          <a:p/>
          <a:p>
            <a:r>
              <a:t>SAY: "pull_request_target runs with secrets in the context of the base branch. Checking out the PR head there hands an attacker your key. If you see it in a workflow, stop and ask."</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"Base is your build branch, not main. That way the diff is only the feature and the review takes a minute, not ten."</a:t>
            </a:r>
          </a:p>
          <a:p/>
          <a:p>
            <a:r>
              <a:t>DO: have the Actions tab of the training repo open on the projector. The first run of the day takes longest.</a:t>
            </a:r>
          </a:p>
          <a:p/>
          <a:p>
            <a:r>
              <a:t>CHECK at 16:00: "Hands up if you have a Claude comment on your PR."</a:t>
            </a:r>
          </a:p>
          <a:p/>
          <a:p>
            <a:r>
              <a:t>FALLBACK: if Actions is slow or blocked, run the same review locally: claude -p with the prompt from the workflow, piped from gh pr diff. See the lab guide.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"Yesterday: MCP is an open standard; Claude Code is the client, each system runs a server. Today you connect two real ones, and neither needs code or an account."</a:t>
            </a:r>
          </a:p>
          <a:p/>
          <a:p>
            <a:r>
              <a:t>SAY: "The first is remote: Microsoft runs it, Claude reaches it over HTTP, it searches official .NET docs. The second is local: a small program npx starts on your laptop, which drives a real browser."</a:t>
            </a:r>
          </a:p>
          <a:p/>
          <a:p>
            <a:r>
              <a:t>NOTE: we deliberately don't use a Google search server. Those need API keys and billing, and Claude Code already has web search built in, so it would teach nothing new.</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"That's the whole integration. The server tells Claude what tools it has and what each one is for; Claude decides when to call them."</a:t>
            </a:r>
          </a:p>
          <a:p/>
          <a:p>
            <a:r>
              <a:t>SAY: "Open /mcp and read one tool description out loud. That sentence is all the model knows about the tool. When you build your own server one day, the description is the part to get right."</a:t>
            </a:r>
          </a:p>
          <a:p/>
          <a:p>
            <a:r>
              <a:t>SAY: "Local scope keeps it to you. Project scope commits a .mcp.json so the whole team gets the server, and each person approves it the first time. Secrets never go in that file: use ${VARIABLES}."</a:t>
            </a:r>
          </a:p>
          <a:p/>
          <a:p>
            <a:r>
              <a:t>DO: on the podium, the Playwright package is already cached from the 09:30 check, so the first launch is fast.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the same habit as 12:15, one rung higher. Claude checked §9 with commands; now it checks §5 by looking at the screen, and it reports what it saw so you can verify it."</a:t>
            </a:r>
          </a:p>
          <a:p/>
          <a:p>
            <a:r>
              <a:t>SAY: "Yesterday's MCP rule two, again: what a server returns is data, not orders. A browser server returns whole web pages, so that rule matters more here."</a:t>
            </a:r>
          </a:p>
          <a:p/>
          <a:p>
            <a:r>
              <a:t>NOTE: the transcript on the left is illustrative. Your results will differ; the shape (navigate, click, observe, report) is what repeats.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"Part A takes two minutes and works on every laptop. Part B needs Node.js from the pre-work. Windows: put cmd /c before npx."</a:t>
            </a:r>
          </a:p>
          <a:p/>
          <a:p>
            <a:r>
              <a:t>SAY: "Check the Learn answer against SPEC.md §4.7: it should land on JsonStringEnumConverter. That is you verifying Claude's evidence."</a:t>
            </a:r>
          </a:p>
          <a:p/>
          <a:p>
            <a:r>
              <a:t>CHECK at 16:32: "Hands up if Claude clicked through your app."</a:t>
            </a:r>
          </a:p>
          <a:p/>
          <a:p>
            <a:r>
              <a:t>FALLBACK: if npm is blocked on the network, everyone does Part A and you run Part B on the podium.</a:t>
            </a:r>
          </a:p>
          <a:p/>
          <a:p>
            <a:r>
              <a:t>STRETCH: 06-Stretch-Cards.md, including building your own MCP server.</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"If you remember one thing: the spec is the part of the work that survives. Code gets regenerated; the contract is what you keep."</a:t>
            </a:r>
          </a:p>
          <a:p/>
          <a:p>
            <a:r>
              <a:t>SAY: "What's next is Day 3 material if you want it: plugins turn today's .claude folder into something the whole company installs in one command."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"Ten minutes. Same concepts as this morning, new questions."</a:t>
            </a:r>
          </a:p>
          <a:p/>
          <a:p>
            <a:r>
              <a:t>DO: write Form A and Form B room averages on the board side by side. Then go round the room for one commitment each: "the spec I will write this month is ___".</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"Feedback takes three minutes and it changes the next cohort's day. The take-home exam is on the sheet you are getting now; it is due in seven days."</a:t>
            </a:r>
          </a:p>
          <a:p/>
          <a:p>
            <a:r>
              <a:t>DO: hand out the take-home exam and the feedback form.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4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3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4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